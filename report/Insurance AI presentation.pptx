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Teko"/>
      <p:regular r:id="rId15"/>
      <p:bold r:id="rId16"/>
    </p:embeddedFont>
    <p:embeddedFont>
      <p:font typeface="Century Gothic"/>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gSBxul+kHiypHxofds7Xyd+uIx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enturyGothic-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Teko-regular.fntdata"/><Relationship Id="rId14" Type="http://schemas.openxmlformats.org/officeDocument/2006/relationships/slide" Target="slides/slide10.xml"/><Relationship Id="rId17" Type="http://schemas.openxmlformats.org/officeDocument/2006/relationships/font" Target="fonts/CenturyGothic-regular.fntdata"/><Relationship Id="rId16" Type="http://schemas.openxmlformats.org/officeDocument/2006/relationships/font" Target="fonts/Teko-bold.fntdata"/><Relationship Id="rId5" Type="http://schemas.openxmlformats.org/officeDocument/2006/relationships/slide" Target="slides/slide1.xml"/><Relationship Id="rId19" Type="http://schemas.openxmlformats.org/officeDocument/2006/relationships/font" Target="fonts/CenturyGothic-italic.fntdata"/><Relationship Id="rId6" Type="http://schemas.openxmlformats.org/officeDocument/2006/relationships/slide" Target="slides/slide2.xml"/><Relationship Id="rId18" Type="http://schemas.openxmlformats.org/officeDocument/2006/relationships/font" Target="fonts/CenturyGothic-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pic>
        <p:nvPicPr>
          <p:cNvPr descr="C0-HD-BTM.png" id="13" name="Google Shape;13;p12"/>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4" name="Google Shape;14;p12"/>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2"/>
          <p:cNvSpPr txBox="1"/>
          <p:nvPr>
            <p:ph idx="1" type="subTitle"/>
          </p:nvPr>
        </p:nvSpPr>
        <p:spPr>
          <a:xfrm>
            <a:off x="1371600" y="3632201"/>
            <a:ext cx="9448800" cy="685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12"/>
          <p:cNvSpPr txBox="1"/>
          <p:nvPr>
            <p:ph idx="10" type="dt"/>
          </p:nvPr>
        </p:nvSpPr>
        <p:spPr>
          <a:xfrm>
            <a:off x="7909561" y="4314328"/>
            <a:ext cx="2910840" cy="37464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2"/>
          <p:cNvSpPr txBox="1"/>
          <p:nvPr>
            <p:ph idx="11" type="ftr"/>
          </p:nvPr>
        </p:nvSpPr>
        <p:spPr>
          <a:xfrm>
            <a:off x="1371600" y="4323845"/>
            <a:ext cx="6400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2"/>
          <p:cNvSpPr txBox="1"/>
          <p:nvPr>
            <p:ph idx="12" type="sldNum"/>
          </p:nvPr>
        </p:nvSpPr>
        <p:spPr>
          <a:xfrm>
            <a:off x="8077200" y="143086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3"/>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 name="Google Shape;22;p13"/>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3"/>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3"/>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5" name="Shape 25"/>
        <p:cNvGrpSpPr/>
        <p:nvPr/>
      </p:nvGrpSpPr>
      <p:grpSpPr>
        <a:xfrm>
          <a:off x="0" y="0"/>
          <a:ext cx="0" cy="0"/>
          <a:chOff x="0" y="0"/>
          <a:chExt cx="0" cy="0"/>
        </a:xfrm>
      </p:grpSpPr>
      <p:pic>
        <p:nvPicPr>
          <p:cNvPr descr="C0-HD-BTM.png" id="26" name="Google Shape;26;p14"/>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27" name="Google Shape;27;p14"/>
          <p:cNvSpPr txBox="1"/>
          <p:nvPr>
            <p:ph type="title"/>
          </p:nvPr>
        </p:nvSpPr>
        <p:spPr>
          <a:xfrm>
            <a:off x="685800" y="753533"/>
            <a:ext cx="10820399" cy="2801935"/>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4000"/>
              <a:buFont typeface="Century Gothic"/>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4"/>
          <p:cNvSpPr txBox="1"/>
          <p:nvPr>
            <p:ph idx="1" type="body"/>
          </p:nvPr>
        </p:nvSpPr>
        <p:spPr>
          <a:xfrm>
            <a:off x="1024467" y="3641725"/>
            <a:ext cx="10490200" cy="9556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29" name="Google Shape;29;p14"/>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4"/>
          <p:cNvSpPr txBox="1"/>
          <p:nvPr>
            <p:ph idx="11" type="ftr"/>
          </p:nvPr>
        </p:nvSpPr>
        <p:spPr>
          <a:xfrm>
            <a:off x="685800" y="381001"/>
            <a:ext cx="6991492" cy="36406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1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5"/>
          <p:cNvSpPr txBox="1"/>
          <p:nvPr>
            <p:ph idx="1" type="body"/>
          </p:nvPr>
        </p:nvSpPr>
        <p:spPr>
          <a:xfrm>
            <a:off x="6858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5" name="Google Shape;35;p15"/>
          <p:cNvSpPr txBox="1"/>
          <p:nvPr>
            <p:ph idx="2" type="body"/>
          </p:nvPr>
        </p:nvSpPr>
        <p:spPr>
          <a:xfrm>
            <a:off x="61722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 name="Google Shape;36;p1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16"/>
          <p:cNvSpPr txBox="1"/>
          <p:nvPr>
            <p:ph type="title"/>
          </p:nvPr>
        </p:nvSpPr>
        <p:spPr>
          <a:xfrm>
            <a:off x="2895600" y="762000"/>
            <a:ext cx="8610600"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6"/>
          <p:cNvSpPr txBox="1"/>
          <p:nvPr>
            <p:ph idx="1" type="body"/>
          </p:nvPr>
        </p:nvSpPr>
        <p:spPr>
          <a:xfrm>
            <a:off x="914409" y="2183802"/>
            <a:ext cx="50799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2" name="Google Shape;42;p16"/>
          <p:cNvSpPr txBox="1"/>
          <p:nvPr>
            <p:ph idx="2" type="body"/>
          </p:nvPr>
        </p:nvSpPr>
        <p:spPr>
          <a:xfrm>
            <a:off x="685800" y="3132666"/>
            <a:ext cx="5311775"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3" name="Google Shape;43;p16"/>
          <p:cNvSpPr txBox="1"/>
          <p:nvPr>
            <p:ph idx="3" type="body"/>
          </p:nvPr>
        </p:nvSpPr>
        <p:spPr>
          <a:xfrm>
            <a:off x="6400800" y="2183802"/>
            <a:ext cx="51054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4" name="Google Shape;44;p16"/>
          <p:cNvSpPr txBox="1"/>
          <p:nvPr>
            <p:ph idx="4" type="body"/>
          </p:nvPr>
        </p:nvSpPr>
        <p:spPr>
          <a:xfrm>
            <a:off x="6172200" y="3132666"/>
            <a:ext cx="5334000"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5" name="Google Shape;45;p16"/>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6"/>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1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17"/>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7"/>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8"/>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8"/>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8"/>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19"/>
          <p:cNvSpPr txBox="1"/>
          <p:nvPr>
            <p:ph type="title"/>
          </p:nvPr>
        </p:nvSpPr>
        <p:spPr>
          <a:xfrm>
            <a:off x="685800" y="1524000"/>
            <a:ext cx="41148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9"/>
          <p:cNvSpPr txBox="1"/>
          <p:nvPr>
            <p:ph idx="1" type="body"/>
          </p:nvPr>
        </p:nvSpPr>
        <p:spPr>
          <a:xfrm>
            <a:off x="4995582" y="746759"/>
            <a:ext cx="6510618" cy="5471925"/>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0" name="Google Shape;60;p19"/>
          <p:cNvSpPr txBox="1"/>
          <p:nvPr>
            <p:ph idx="2" type="body"/>
          </p:nvPr>
        </p:nvSpPr>
        <p:spPr>
          <a:xfrm>
            <a:off x="685800" y="3124199"/>
            <a:ext cx="411480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1" name="Google Shape;61;p19"/>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9"/>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20"/>
          <p:cNvSpPr txBox="1"/>
          <p:nvPr>
            <p:ph type="title"/>
          </p:nvPr>
        </p:nvSpPr>
        <p:spPr>
          <a:xfrm>
            <a:off x="685800" y="1524000"/>
            <a:ext cx="687324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0"/>
          <p:cNvSpPr/>
          <p:nvPr>
            <p:ph idx="2" type="pic"/>
          </p:nvPr>
        </p:nvSpPr>
        <p:spPr>
          <a:xfrm>
            <a:off x="7861238" y="751241"/>
            <a:ext cx="3644962" cy="5467443"/>
          </a:xfrm>
          <a:prstGeom prst="rect">
            <a:avLst/>
          </a:prstGeom>
          <a:noFill/>
          <a:ln>
            <a:noFill/>
          </a:ln>
        </p:spPr>
      </p:sp>
      <p:sp>
        <p:nvSpPr>
          <p:cNvPr id="67" name="Google Shape;67;p20"/>
          <p:cNvSpPr txBox="1"/>
          <p:nvPr>
            <p:ph idx="1" type="body"/>
          </p:nvPr>
        </p:nvSpPr>
        <p:spPr>
          <a:xfrm>
            <a:off x="685800" y="3124199"/>
            <a:ext cx="687324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8" name="Google Shape;68;p2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1" name="Shape 71"/>
        <p:cNvGrpSpPr/>
        <p:nvPr/>
      </p:nvGrpSpPr>
      <p:grpSpPr>
        <a:xfrm>
          <a:off x="0" y="0"/>
          <a:ext cx="0" cy="0"/>
          <a:chOff x="0" y="0"/>
          <a:chExt cx="0" cy="0"/>
        </a:xfrm>
      </p:grpSpPr>
      <p:sp>
        <p:nvSpPr>
          <p:cNvPr id="72" name="Google Shape;72;p21"/>
          <p:cNvSpPr txBox="1"/>
          <p:nvPr>
            <p:ph type="title"/>
          </p:nvPr>
        </p:nvSpPr>
        <p:spPr>
          <a:xfrm>
            <a:off x="685777" y="4697360"/>
            <a:ext cx="10822034"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1"/>
          <p:cNvSpPr/>
          <p:nvPr>
            <p:ph idx="2" type="pic"/>
          </p:nvPr>
        </p:nvSpPr>
        <p:spPr>
          <a:xfrm>
            <a:off x="681727" y="941439"/>
            <a:ext cx="10821840" cy="3478161"/>
          </a:xfrm>
          <a:prstGeom prst="rect">
            <a:avLst/>
          </a:prstGeom>
          <a:noFill/>
          <a:ln>
            <a:noFill/>
          </a:ln>
        </p:spPr>
      </p:sp>
      <p:sp>
        <p:nvSpPr>
          <p:cNvPr id="74" name="Google Shape;74;p21"/>
          <p:cNvSpPr txBox="1"/>
          <p:nvPr>
            <p:ph idx="1" type="body"/>
          </p:nvPr>
        </p:nvSpPr>
        <p:spPr>
          <a:xfrm>
            <a:off x="685800" y="5516715"/>
            <a:ext cx="10820400" cy="7019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5" name="Google Shape;75;p2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78" name="Shape 78"/>
        <p:cNvGrpSpPr/>
        <p:nvPr/>
      </p:nvGrpSpPr>
      <p:grpSpPr>
        <a:xfrm>
          <a:off x="0" y="0"/>
          <a:ext cx="0" cy="0"/>
          <a:chOff x="0" y="0"/>
          <a:chExt cx="0" cy="0"/>
        </a:xfrm>
      </p:grpSpPr>
      <p:pic>
        <p:nvPicPr>
          <p:cNvPr descr="C0-HD-BTM.png" id="79" name="Google Shape;79;p22"/>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0" name="Google Shape;80;p22"/>
          <p:cNvSpPr txBox="1"/>
          <p:nvPr>
            <p:ph type="title"/>
          </p:nvPr>
        </p:nvSpPr>
        <p:spPr>
          <a:xfrm>
            <a:off x="685800" y="753532"/>
            <a:ext cx="10820400" cy="280246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2"/>
          <p:cNvSpPr txBox="1"/>
          <p:nvPr>
            <p:ph idx="1" type="body"/>
          </p:nvPr>
        </p:nvSpPr>
        <p:spPr>
          <a:xfrm>
            <a:off x="1024467" y="3649133"/>
            <a:ext cx="10130516" cy="99906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2" name="Google Shape;82;p22"/>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2"/>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85" name="Shape 85"/>
        <p:cNvGrpSpPr/>
        <p:nvPr/>
      </p:nvGrpSpPr>
      <p:grpSpPr>
        <a:xfrm>
          <a:off x="0" y="0"/>
          <a:ext cx="0" cy="0"/>
          <a:chOff x="0" y="0"/>
          <a:chExt cx="0" cy="0"/>
        </a:xfrm>
      </p:grpSpPr>
      <p:pic>
        <p:nvPicPr>
          <p:cNvPr descr="C0-HD-BTM.png" id="86" name="Google Shape;86;p23"/>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7" name="Google Shape;87;p23"/>
          <p:cNvSpPr txBox="1"/>
          <p:nvPr>
            <p:ph type="title"/>
          </p:nvPr>
        </p:nvSpPr>
        <p:spPr>
          <a:xfrm>
            <a:off x="1024467" y="753533"/>
            <a:ext cx="10151533" cy="2604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23"/>
          <p:cNvSpPr txBox="1"/>
          <p:nvPr>
            <p:ph idx="1" type="body"/>
          </p:nvPr>
        </p:nvSpPr>
        <p:spPr>
          <a:xfrm>
            <a:off x="1303865" y="3365556"/>
            <a:ext cx="9592736" cy="4444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9" name="Google Shape;89;p23"/>
          <p:cNvSpPr txBox="1"/>
          <p:nvPr>
            <p:ph idx="2" type="body"/>
          </p:nvPr>
        </p:nvSpPr>
        <p:spPr>
          <a:xfrm>
            <a:off x="1024467" y="3959862"/>
            <a:ext cx="10151533" cy="679871"/>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0" name="Google Shape;90;p23"/>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3"/>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3"/>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23"/>
          <p:cNvSpPr txBox="1"/>
          <p:nvPr/>
        </p:nvSpPr>
        <p:spPr>
          <a:xfrm>
            <a:off x="476250" y="933450"/>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8000"/>
              <a:buFont typeface="Century Gothic"/>
              <a:buNone/>
            </a:pPr>
            <a:r>
              <a:rPr b="0" lang="en-US" sz="8000" cap="none">
                <a:solidFill>
                  <a:schemeClr val="lt1"/>
                </a:solidFill>
                <a:latin typeface="Century Gothic"/>
                <a:ea typeface="Century Gothic"/>
                <a:cs typeface="Century Gothic"/>
                <a:sym typeface="Century Gothic"/>
              </a:rPr>
              <a:t>“</a:t>
            </a:r>
            <a:endParaRPr/>
          </a:p>
        </p:txBody>
      </p:sp>
      <p:sp>
        <p:nvSpPr>
          <p:cNvPr id="94" name="Google Shape;94;p23"/>
          <p:cNvSpPr txBox="1"/>
          <p:nvPr/>
        </p:nvSpPr>
        <p:spPr>
          <a:xfrm>
            <a:off x="10984230" y="270129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Century Gothic"/>
              <a:buNone/>
            </a:pPr>
            <a:r>
              <a:rPr b="0" lang="en-US" sz="8000" cap="none">
                <a:solidFill>
                  <a:schemeClr val="lt1"/>
                </a:solidFill>
                <a:latin typeface="Century Gothic"/>
                <a:ea typeface="Century Gothic"/>
                <a:cs typeface="Century Gothic"/>
                <a:sym typeface="Century Gothic"/>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95" name="Shape 95"/>
        <p:cNvGrpSpPr/>
        <p:nvPr/>
      </p:nvGrpSpPr>
      <p:grpSpPr>
        <a:xfrm>
          <a:off x="0" y="0"/>
          <a:ext cx="0" cy="0"/>
          <a:chOff x="0" y="0"/>
          <a:chExt cx="0" cy="0"/>
        </a:xfrm>
      </p:grpSpPr>
      <p:pic>
        <p:nvPicPr>
          <p:cNvPr descr="C0-HD-BTM.png" id="96" name="Google Shape;96;p24"/>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97" name="Google Shape;97;p24"/>
          <p:cNvSpPr txBox="1"/>
          <p:nvPr>
            <p:ph type="title"/>
          </p:nvPr>
        </p:nvSpPr>
        <p:spPr>
          <a:xfrm>
            <a:off x="1024495" y="1124701"/>
            <a:ext cx="10146186"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24"/>
          <p:cNvSpPr txBox="1"/>
          <p:nvPr>
            <p:ph idx="1" type="body"/>
          </p:nvPr>
        </p:nvSpPr>
        <p:spPr>
          <a:xfrm>
            <a:off x="1024467" y="3648315"/>
            <a:ext cx="10144654" cy="9998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9" name="Google Shape;99;p24"/>
          <p:cNvSpPr txBox="1"/>
          <p:nvPr>
            <p:ph idx="10" type="dt"/>
          </p:nvPr>
        </p:nvSpPr>
        <p:spPr>
          <a:xfrm>
            <a:off x="7814452" y="378883"/>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4"/>
          <p:cNvSpPr txBox="1"/>
          <p:nvPr>
            <p:ph idx="11" type="ftr"/>
          </p:nvPr>
        </p:nvSpPr>
        <p:spPr>
          <a:xfrm>
            <a:off x="685800" y="378883"/>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4"/>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25"/>
          <p:cNvSpPr txBox="1"/>
          <p:nvPr>
            <p:ph type="title"/>
          </p:nvPr>
        </p:nvSpPr>
        <p:spPr>
          <a:xfrm>
            <a:off x="2895600" y="761999"/>
            <a:ext cx="8610599" cy="1303867"/>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25"/>
          <p:cNvSpPr txBox="1"/>
          <p:nvPr>
            <p:ph idx="1" type="body"/>
          </p:nvPr>
        </p:nvSpPr>
        <p:spPr>
          <a:xfrm>
            <a:off x="685800" y="2202080"/>
            <a:ext cx="3456432" cy="61732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5" name="Google Shape;105;p25"/>
          <p:cNvSpPr txBox="1"/>
          <p:nvPr>
            <p:ph idx="2" type="body"/>
          </p:nvPr>
        </p:nvSpPr>
        <p:spPr>
          <a:xfrm>
            <a:off x="685799"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6" name="Google Shape;106;p25"/>
          <p:cNvSpPr txBox="1"/>
          <p:nvPr>
            <p:ph idx="3" type="body"/>
          </p:nvPr>
        </p:nvSpPr>
        <p:spPr>
          <a:xfrm>
            <a:off x="4368800" y="2201333"/>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 name="Google Shape;107;p25"/>
          <p:cNvSpPr txBox="1"/>
          <p:nvPr>
            <p:ph idx="4" type="body"/>
          </p:nvPr>
        </p:nvSpPr>
        <p:spPr>
          <a:xfrm>
            <a:off x="4366858" y="2904067"/>
            <a:ext cx="3456432" cy="331461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8" name="Google Shape;108;p25"/>
          <p:cNvSpPr txBox="1"/>
          <p:nvPr>
            <p:ph idx="5" type="body"/>
          </p:nvPr>
        </p:nvSpPr>
        <p:spPr>
          <a:xfrm>
            <a:off x="8051800" y="2192866"/>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9" name="Google Shape;109;p25"/>
          <p:cNvSpPr txBox="1"/>
          <p:nvPr>
            <p:ph idx="6" type="body"/>
          </p:nvPr>
        </p:nvSpPr>
        <p:spPr>
          <a:xfrm>
            <a:off x="8051801"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0" name="Google Shape;110;p2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3" name="Shape 113"/>
        <p:cNvGrpSpPr/>
        <p:nvPr/>
      </p:nvGrpSpPr>
      <p:grpSpPr>
        <a:xfrm>
          <a:off x="0" y="0"/>
          <a:ext cx="0" cy="0"/>
          <a:chOff x="0" y="0"/>
          <a:chExt cx="0" cy="0"/>
        </a:xfrm>
      </p:grpSpPr>
      <p:sp>
        <p:nvSpPr>
          <p:cNvPr id="114" name="Google Shape;114;p26"/>
          <p:cNvSpPr txBox="1"/>
          <p:nvPr>
            <p:ph type="title"/>
          </p:nvPr>
        </p:nvSpPr>
        <p:spPr>
          <a:xfrm>
            <a:off x="2895600" y="762000"/>
            <a:ext cx="8610599"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6"/>
          <p:cNvSpPr txBox="1"/>
          <p:nvPr>
            <p:ph idx="1" type="body"/>
          </p:nvPr>
        </p:nvSpPr>
        <p:spPr>
          <a:xfrm>
            <a:off x="688618" y="4191000"/>
            <a:ext cx="3451582"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6" name="Google Shape;116;p26"/>
          <p:cNvSpPr/>
          <p:nvPr>
            <p:ph idx="2" type="pic"/>
          </p:nvPr>
        </p:nvSpPr>
        <p:spPr>
          <a:xfrm>
            <a:off x="688618" y="2362200"/>
            <a:ext cx="3451582"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17" name="Google Shape;117;p26"/>
          <p:cNvSpPr txBox="1"/>
          <p:nvPr>
            <p:ph idx="3" type="body"/>
          </p:nvPr>
        </p:nvSpPr>
        <p:spPr>
          <a:xfrm>
            <a:off x="688618" y="4873764"/>
            <a:ext cx="3451582"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8" name="Google Shape;118;p26"/>
          <p:cNvSpPr txBox="1"/>
          <p:nvPr>
            <p:ph idx="4" type="body"/>
          </p:nvPr>
        </p:nvSpPr>
        <p:spPr>
          <a:xfrm>
            <a:off x="4374263" y="4191000"/>
            <a:ext cx="3448935"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9" name="Google Shape;119;p26"/>
          <p:cNvSpPr/>
          <p:nvPr>
            <p:ph idx="5" type="pic"/>
          </p:nvPr>
        </p:nvSpPr>
        <p:spPr>
          <a:xfrm>
            <a:off x="4374263" y="2362200"/>
            <a:ext cx="3448936"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20" name="Google Shape;120;p26"/>
          <p:cNvSpPr txBox="1"/>
          <p:nvPr>
            <p:ph idx="6" type="body"/>
          </p:nvPr>
        </p:nvSpPr>
        <p:spPr>
          <a:xfrm>
            <a:off x="4374264" y="4873763"/>
            <a:ext cx="344893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1" name="Google Shape;121;p26"/>
          <p:cNvSpPr txBox="1"/>
          <p:nvPr>
            <p:ph idx="7" type="body"/>
          </p:nvPr>
        </p:nvSpPr>
        <p:spPr>
          <a:xfrm>
            <a:off x="8049731" y="4191000"/>
            <a:ext cx="3456469"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2" name="Google Shape;122;p26"/>
          <p:cNvSpPr/>
          <p:nvPr>
            <p:ph idx="8" type="pic"/>
          </p:nvPr>
        </p:nvSpPr>
        <p:spPr>
          <a:xfrm>
            <a:off x="8049855" y="2362200"/>
            <a:ext cx="3447878"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23" name="Google Shape;123;p26"/>
          <p:cNvSpPr txBox="1"/>
          <p:nvPr>
            <p:ph idx="9" type="body"/>
          </p:nvPr>
        </p:nvSpPr>
        <p:spPr>
          <a:xfrm>
            <a:off x="8049731" y="4873761"/>
            <a:ext cx="345244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4" name="Google Shape;124;p26"/>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6"/>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6"/>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2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27"/>
          <p:cNvSpPr txBox="1"/>
          <p:nvPr>
            <p:ph idx="1" type="body"/>
          </p:nvPr>
        </p:nvSpPr>
        <p:spPr>
          <a:xfrm rot="5400000">
            <a:off x="4083938" y="-1203579"/>
            <a:ext cx="4024125" cy="10820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0" name="Google Shape;130;p27"/>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7"/>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7"/>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33" name="Shape 133"/>
        <p:cNvGrpSpPr/>
        <p:nvPr/>
      </p:nvGrpSpPr>
      <p:grpSpPr>
        <a:xfrm>
          <a:off x="0" y="0"/>
          <a:ext cx="0" cy="0"/>
          <a:chOff x="0" y="0"/>
          <a:chExt cx="0" cy="0"/>
        </a:xfrm>
      </p:grpSpPr>
      <p:pic>
        <p:nvPicPr>
          <p:cNvPr descr="C0-HD-BTM.png" id="134" name="Google Shape;134;p2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35" name="Google Shape;135;p28"/>
          <p:cNvSpPr txBox="1"/>
          <p:nvPr>
            <p:ph type="title"/>
          </p:nvPr>
        </p:nvSpPr>
        <p:spPr>
          <a:xfrm rot="5400000">
            <a:off x="8525934" y="1667933"/>
            <a:ext cx="3903133" cy="2057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28"/>
          <p:cNvSpPr txBox="1"/>
          <p:nvPr>
            <p:ph idx="1" type="body"/>
          </p:nvPr>
        </p:nvSpPr>
        <p:spPr>
          <a:xfrm rot="5400000">
            <a:off x="3175000" y="-1405467"/>
            <a:ext cx="3903133" cy="82042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7" name="Google Shape;137;p28"/>
          <p:cNvSpPr txBox="1"/>
          <p:nvPr>
            <p:ph idx="10" type="dt"/>
          </p:nvPr>
        </p:nvSpPr>
        <p:spPr>
          <a:xfrm>
            <a:off x="7814452" y="379941"/>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28"/>
          <p:cNvSpPr txBox="1"/>
          <p:nvPr>
            <p:ph idx="11" type="ftr"/>
          </p:nvPr>
        </p:nvSpPr>
        <p:spPr>
          <a:xfrm>
            <a:off x="685800" y="381000"/>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2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pic>
        <p:nvPicPr>
          <p:cNvPr descr="C0-HD-TOP.png" id="6" name="Google Shape;6;p11"/>
          <p:cNvPicPr preferRelativeResize="0"/>
          <p:nvPr/>
        </p:nvPicPr>
        <p:blipFill rotWithShape="1">
          <a:blip r:embed="rId1">
            <a:alphaModFix/>
          </a:blip>
          <a:srcRect b="0" l="0" r="0" t="0"/>
          <a:stretch/>
        </p:blipFill>
        <p:spPr>
          <a:xfrm>
            <a:off x="0" y="0"/>
            <a:ext cx="12192000" cy="1441450"/>
          </a:xfrm>
          <a:prstGeom prst="rect">
            <a:avLst/>
          </a:prstGeom>
          <a:noFill/>
          <a:ln>
            <a:noFill/>
          </a:ln>
        </p:spPr>
      </p:pic>
      <p:sp>
        <p:nvSpPr>
          <p:cNvPr id="7" name="Google Shape;7;p1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marR="0" rtl="0" algn="r">
              <a:lnSpc>
                <a:spcPct val="90000"/>
              </a:lnSpc>
              <a:spcBef>
                <a:spcPts val="0"/>
              </a:spcBef>
              <a:spcAft>
                <a:spcPts val="0"/>
              </a:spcAft>
              <a:buClr>
                <a:schemeClr val="lt1"/>
              </a:buClr>
              <a:buSzPts val="4000"/>
              <a:buFont typeface="Century Gothic"/>
              <a:buNone/>
              <a:defRPr b="0" i="0" sz="4000" u="none" cap="none" strike="noStrike">
                <a:solidFill>
                  <a:schemeClr val="l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1"/>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9" name="Google Shape;9;p1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0" name="Google Shape;10;p1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1" name="Google Shape;11;p1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5.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type="ctrTitle"/>
          </p:nvPr>
        </p:nvSpPr>
        <p:spPr>
          <a:xfrm>
            <a:off x="2050023" y="2300747"/>
            <a:ext cx="7477433" cy="101272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lt1"/>
              </a:buClr>
              <a:buSzPts val="5000"/>
              <a:buFont typeface="Century Gothic"/>
              <a:buNone/>
            </a:pPr>
            <a:r>
              <a:rPr b="1" lang="en-US" sz="5000"/>
              <a:t>INSURANCE AI PROJECT</a:t>
            </a:r>
            <a:endParaRPr/>
          </a:p>
        </p:txBody>
      </p:sp>
      <p:sp>
        <p:nvSpPr>
          <p:cNvPr id="145" name="Google Shape;145;p1"/>
          <p:cNvSpPr txBox="1"/>
          <p:nvPr>
            <p:ph idx="1" type="subTitle"/>
          </p:nvPr>
        </p:nvSpPr>
        <p:spPr>
          <a:xfrm>
            <a:off x="3809996" y="3578435"/>
            <a:ext cx="3957600" cy="5358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2400"/>
              <a:buNone/>
            </a:pPr>
            <a:r>
              <a:rPr b="1" lang="en-US" sz="2400"/>
              <a:t>Presented by Ragu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
          <p:cNvSpPr txBox="1"/>
          <p:nvPr>
            <p:ph type="title"/>
          </p:nvPr>
        </p:nvSpPr>
        <p:spPr>
          <a:xfrm>
            <a:off x="656304" y="1632373"/>
            <a:ext cx="3807542" cy="491396"/>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Century Gothic"/>
              <a:buNone/>
            </a:pPr>
            <a:r>
              <a:rPr b="1" lang="en-US" sz="2800"/>
              <a:t>PROJECT OVERVIEW</a:t>
            </a:r>
            <a:endParaRPr/>
          </a:p>
        </p:txBody>
      </p:sp>
      <p:sp>
        <p:nvSpPr>
          <p:cNvPr id="151" name="Google Shape;151;p2"/>
          <p:cNvSpPr txBox="1"/>
          <p:nvPr>
            <p:ph idx="1" type="body"/>
          </p:nvPr>
        </p:nvSpPr>
        <p:spPr>
          <a:xfrm>
            <a:off x="1640759" y="2626962"/>
            <a:ext cx="8910482" cy="2746149"/>
          </a:xfrm>
          <a:prstGeom prst="rect">
            <a:avLst/>
          </a:prstGeom>
          <a:noFill/>
          <a:ln>
            <a:noFill/>
          </a:ln>
        </p:spPr>
        <p:txBody>
          <a:bodyPr anchorCtr="0" anchor="t" bIns="45700" lIns="91425" spcFirstLastPara="1" rIns="91425" wrap="square" tIns="45700">
            <a:normAutofit fontScale="92500"/>
          </a:bodyPr>
          <a:lstStyle/>
          <a:p>
            <a:pPr indent="0" lvl="0" marL="0" rtl="0" algn="l">
              <a:lnSpc>
                <a:spcPct val="100000"/>
              </a:lnSpc>
              <a:spcBef>
                <a:spcPts val="0"/>
              </a:spcBef>
              <a:spcAft>
                <a:spcPts val="0"/>
              </a:spcAft>
              <a:buClr>
                <a:schemeClr val="lt1"/>
              </a:buClr>
              <a:buSzPct val="100000"/>
              <a:buNone/>
            </a:pPr>
            <a:r>
              <a:rPr lang="en-US"/>
              <a:t>This project is an AI-driven solution designed to improve the efficiency, accuracy, and security of operations in the insurance domain. It combines multiple machine learning models, natural language processing techniques, and transformer based architectures to address real-world challenges such as risk classification, claim amount prediction, customer segmentation, fraud detection, sentiment analysis, insurance document translation, policy summarization, and automated answering chatbot.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type="title"/>
          </p:nvPr>
        </p:nvSpPr>
        <p:spPr>
          <a:xfrm>
            <a:off x="705465" y="1189701"/>
            <a:ext cx="3542071" cy="7005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Font typeface="Century Gothic"/>
              <a:buNone/>
            </a:pPr>
            <a:r>
              <a:rPr b="1" lang="en-US" sz="2800"/>
              <a:t>BUSINESS PROBLEM</a:t>
            </a:r>
            <a:endParaRPr b="1" sz="2800"/>
          </a:p>
        </p:txBody>
      </p:sp>
      <p:sp>
        <p:nvSpPr>
          <p:cNvPr id="157" name="Google Shape;157;p3"/>
          <p:cNvSpPr txBox="1"/>
          <p:nvPr>
            <p:ph idx="1" type="body"/>
          </p:nvPr>
        </p:nvSpPr>
        <p:spPr>
          <a:xfrm>
            <a:off x="1533832" y="2182761"/>
            <a:ext cx="9733937" cy="423770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n-US">
                <a:latin typeface="Teko"/>
                <a:ea typeface="Teko"/>
                <a:cs typeface="Teko"/>
                <a:sym typeface="Teko"/>
              </a:rPr>
              <a:t>Hard to Judge Risk</a:t>
            </a:r>
            <a:r>
              <a:rPr b="1" lang="en-US">
                <a:latin typeface="Teko"/>
                <a:ea typeface="Teko"/>
                <a:cs typeface="Teko"/>
                <a:sym typeface="Teko"/>
              </a:rPr>
              <a:t> </a:t>
            </a:r>
            <a:r>
              <a:rPr lang="en-US">
                <a:latin typeface="Teko"/>
                <a:ea typeface="Teko"/>
                <a:cs typeface="Teko"/>
                <a:sym typeface="Teko"/>
              </a:rPr>
              <a:t>It's difficult to correctly tell which customers are more likely to make risky or expensive claims.</a:t>
            </a:r>
            <a:endParaRPr/>
          </a:p>
          <a:p>
            <a:pPr indent="-228600" lvl="0" marL="228600" rtl="0" algn="l">
              <a:lnSpc>
                <a:spcPct val="90000"/>
              </a:lnSpc>
              <a:spcBef>
                <a:spcPts val="1000"/>
              </a:spcBef>
              <a:spcAft>
                <a:spcPts val="0"/>
              </a:spcAft>
              <a:buClr>
                <a:schemeClr val="lt1"/>
              </a:buClr>
              <a:buSzPts val="2200"/>
              <a:buChar char="•"/>
            </a:pPr>
            <a:r>
              <a:rPr lang="en-US">
                <a:latin typeface="Teko"/>
                <a:ea typeface="Teko"/>
                <a:cs typeface="Teko"/>
                <a:sym typeface="Teko"/>
              </a:rPr>
              <a:t>Fake Claims</a:t>
            </a:r>
            <a:r>
              <a:rPr b="1" lang="en-US">
                <a:latin typeface="Teko"/>
                <a:ea typeface="Teko"/>
                <a:cs typeface="Teko"/>
                <a:sym typeface="Teko"/>
              </a:rPr>
              <a:t> </a:t>
            </a:r>
            <a:r>
              <a:rPr lang="en-US">
                <a:latin typeface="Teko"/>
                <a:ea typeface="Teko"/>
                <a:cs typeface="Teko"/>
                <a:sym typeface="Teko"/>
              </a:rPr>
              <a:t>Some people try to cheat the system and file fake insurance claims, which causes big money losses.</a:t>
            </a:r>
            <a:endParaRPr/>
          </a:p>
          <a:p>
            <a:pPr indent="-228600" lvl="0" marL="228600" rtl="0" algn="l">
              <a:lnSpc>
                <a:spcPct val="90000"/>
              </a:lnSpc>
              <a:spcBef>
                <a:spcPts val="1000"/>
              </a:spcBef>
              <a:spcAft>
                <a:spcPts val="0"/>
              </a:spcAft>
              <a:buClr>
                <a:schemeClr val="lt1"/>
              </a:buClr>
              <a:buSzPts val="2200"/>
              <a:buChar char="•"/>
            </a:pPr>
            <a:r>
              <a:rPr lang="en-US">
                <a:latin typeface="Teko"/>
                <a:ea typeface="Teko"/>
                <a:cs typeface="Teko"/>
                <a:sym typeface="Teko"/>
              </a:rPr>
              <a:t>Slow Claim Processing Reviewing claims by hand takes time and causes delays in giving money back to customers.</a:t>
            </a:r>
            <a:endParaRPr/>
          </a:p>
          <a:p>
            <a:pPr indent="-228600" lvl="0" marL="228600" rtl="0" algn="l">
              <a:lnSpc>
                <a:spcPct val="90000"/>
              </a:lnSpc>
              <a:spcBef>
                <a:spcPts val="1000"/>
              </a:spcBef>
              <a:spcAft>
                <a:spcPts val="0"/>
              </a:spcAft>
              <a:buClr>
                <a:schemeClr val="lt1"/>
              </a:buClr>
              <a:buSzPts val="2200"/>
              <a:buChar char="•"/>
            </a:pPr>
            <a:r>
              <a:rPr lang="en-US">
                <a:latin typeface="Teko"/>
                <a:ea typeface="Teko"/>
                <a:cs typeface="Teko"/>
                <a:sym typeface="Teko"/>
              </a:rPr>
              <a:t>Companies often give the same kind of policy to everyone, so customizing it for each customer’s needs.</a:t>
            </a:r>
            <a:endParaRPr/>
          </a:p>
          <a:p>
            <a:pPr indent="-228600" lvl="0" marL="228600" rtl="0" algn="l">
              <a:lnSpc>
                <a:spcPct val="90000"/>
              </a:lnSpc>
              <a:spcBef>
                <a:spcPts val="1000"/>
              </a:spcBef>
              <a:spcAft>
                <a:spcPts val="0"/>
              </a:spcAft>
              <a:buClr>
                <a:schemeClr val="lt1"/>
              </a:buClr>
              <a:buSzPts val="2200"/>
              <a:buChar char="•"/>
            </a:pPr>
            <a:r>
              <a:rPr lang="en-US">
                <a:latin typeface="Teko"/>
                <a:ea typeface="Teko"/>
                <a:cs typeface="Teko"/>
                <a:sym typeface="Teko"/>
              </a:rPr>
              <a:t>Language Issues Customers who don’t speak the same language as the company can’t understand policies or get help easily.</a:t>
            </a:r>
            <a:endParaRPr/>
          </a:p>
          <a:p>
            <a:pPr indent="-228600" lvl="0" marL="228600" rtl="0" algn="l">
              <a:lnSpc>
                <a:spcPct val="90000"/>
              </a:lnSpc>
              <a:spcBef>
                <a:spcPts val="1000"/>
              </a:spcBef>
              <a:spcAft>
                <a:spcPts val="0"/>
              </a:spcAft>
              <a:buClr>
                <a:schemeClr val="lt1"/>
              </a:buClr>
              <a:buSzPts val="2200"/>
              <a:buChar char="•"/>
            </a:pPr>
            <a:r>
              <a:rPr lang="en-US">
                <a:latin typeface="Teko"/>
                <a:ea typeface="Teko"/>
                <a:cs typeface="Teko"/>
                <a:sym typeface="Teko"/>
              </a:rPr>
              <a:t>Bad Customer Experience Customers get frustrated with long documents and waiting a long time to get answers to their questions.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type="title"/>
          </p:nvPr>
        </p:nvSpPr>
        <p:spPr>
          <a:xfrm>
            <a:off x="685800" y="1305148"/>
            <a:ext cx="3886200" cy="5728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Font typeface="Century Gothic"/>
              <a:buNone/>
            </a:pPr>
            <a:r>
              <a:rPr b="1" lang="en-US" sz="2800"/>
              <a:t>PROPOSED SOLUTION</a:t>
            </a:r>
            <a:endParaRPr/>
          </a:p>
        </p:txBody>
      </p:sp>
      <p:sp>
        <p:nvSpPr>
          <p:cNvPr id="163" name="Google Shape;163;p4"/>
          <p:cNvSpPr txBox="1"/>
          <p:nvPr>
            <p:ph idx="1" type="body"/>
          </p:nvPr>
        </p:nvSpPr>
        <p:spPr>
          <a:xfrm>
            <a:off x="1455174" y="2273217"/>
            <a:ext cx="9665110" cy="377362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n-US">
                <a:latin typeface="Teko"/>
                <a:ea typeface="Teko"/>
                <a:cs typeface="Teko"/>
                <a:sym typeface="Teko"/>
              </a:rPr>
              <a:t>Enables personalized pricing, </a:t>
            </a:r>
            <a:r>
              <a:rPr b="1" lang="en-US">
                <a:latin typeface="Teko"/>
                <a:ea typeface="Teko"/>
                <a:cs typeface="Teko"/>
                <a:sym typeface="Teko"/>
              </a:rPr>
              <a:t>improving customer acquisition &amp; retention by 15–20%.</a:t>
            </a:r>
            <a:endParaRPr/>
          </a:p>
          <a:p>
            <a:pPr indent="-228600" lvl="0" marL="228600" rtl="0" algn="l">
              <a:lnSpc>
                <a:spcPct val="90000"/>
              </a:lnSpc>
              <a:spcBef>
                <a:spcPts val="1000"/>
              </a:spcBef>
              <a:spcAft>
                <a:spcPts val="0"/>
              </a:spcAft>
              <a:buClr>
                <a:schemeClr val="lt1"/>
              </a:buClr>
              <a:buSzPts val="2200"/>
              <a:buFont typeface="Arial"/>
              <a:buChar char="•"/>
            </a:pPr>
            <a:r>
              <a:rPr lang="en-US">
                <a:latin typeface="Teko"/>
                <a:ea typeface="Teko"/>
                <a:cs typeface="Teko"/>
                <a:sym typeface="Teko"/>
              </a:rPr>
              <a:t>Supports faster claim decisions and better resource allocation. </a:t>
            </a:r>
            <a:r>
              <a:rPr b="1" lang="en-US">
                <a:latin typeface="Teko"/>
                <a:ea typeface="Teko"/>
                <a:cs typeface="Teko"/>
                <a:sym typeface="Teko"/>
              </a:rPr>
              <a:t>reduces customer churn by 25%.</a:t>
            </a:r>
            <a:endParaRPr/>
          </a:p>
          <a:p>
            <a:pPr indent="-228600" lvl="0" marL="228600" rtl="0" algn="l">
              <a:lnSpc>
                <a:spcPct val="90000"/>
              </a:lnSpc>
              <a:spcBef>
                <a:spcPts val="1000"/>
              </a:spcBef>
              <a:spcAft>
                <a:spcPts val="0"/>
              </a:spcAft>
              <a:buClr>
                <a:schemeClr val="lt1"/>
              </a:buClr>
              <a:buSzPts val="2200"/>
              <a:buFont typeface="Arial"/>
              <a:buChar char="•"/>
            </a:pPr>
            <a:r>
              <a:rPr lang="en-US">
                <a:latin typeface="Teko"/>
                <a:ea typeface="Teko"/>
                <a:cs typeface="Teko"/>
                <a:sym typeface="Teko"/>
              </a:rPr>
              <a:t>Saves millions in fraudulent payouts. </a:t>
            </a:r>
            <a:r>
              <a:rPr b="1" lang="en-US">
                <a:latin typeface="Teko"/>
                <a:ea typeface="Teko"/>
                <a:cs typeface="Teko"/>
                <a:sym typeface="Teko"/>
              </a:rPr>
              <a:t>Reduces fraud related losses by up to 40%.</a:t>
            </a:r>
            <a:endParaRPr/>
          </a:p>
          <a:p>
            <a:pPr indent="-228600" lvl="0" marL="228600" rtl="0" algn="l">
              <a:lnSpc>
                <a:spcPct val="90000"/>
              </a:lnSpc>
              <a:spcBef>
                <a:spcPts val="1000"/>
              </a:spcBef>
              <a:spcAft>
                <a:spcPts val="0"/>
              </a:spcAft>
              <a:buClr>
                <a:schemeClr val="lt1"/>
              </a:buClr>
              <a:buSzPts val="2200"/>
              <a:buFont typeface="Arial"/>
              <a:buChar char="•"/>
            </a:pPr>
            <a:r>
              <a:rPr lang="en-US">
                <a:latin typeface="Teko"/>
                <a:ea typeface="Teko"/>
                <a:cs typeface="Teko"/>
                <a:sym typeface="Teko"/>
              </a:rPr>
              <a:t>Increases policy conversion rates and cross sell opportunities.</a:t>
            </a:r>
            <a:endParaRPr/>
          </a:p>
          <a:p>
            <a:pPr indent="-228600" lvl="0" marL="228600" rtl="0" algn="l">
              <a:lnSpc>
                <a:spcPct val="90000"/>
              </a:lnSpc>
              <a:spcBef>
                <a:spcPts val="1000"/>
              </a:spcBef>
              <a:spcAft>
                <a:spcPts val="0"/>
              </a:spcAft>
              <a:buClr>
                <a:schemeClr val="lt1"/>
              </a:buClr>
              <a:buSzPts val="2200"/>
              <a:buFont typeface="Arial"/>
              <a:buChar char="•"/>
            </a:pPr>
            <a:r>
              <a:rPr lang="en-US">
                <a:latin typeface="Teko"/>
                <a:ea typeface="Teko"/>
                <a:cs typeface="Teko"/>
                <a:sym typeface="Teko"/>
              </a:rPr>
              <a:t>Helps address negative feedback early. </a:t>
            </a:r>
            <a:r>
              <a:rPr b="1" lang="en-US">
                <a:latin typeface="Teko"/>
                <a:ea typeface="Teko"/>
                <a:cs typeface="Teko"/>
                <a:sym typeface="Teko"/>
              </a:rPr>
              <a:t>Boosts customer satisfaction and loyalty.</a:t>
            </a:r>
            <a:endParaRPr/>
          </a:p>
          <a:p>
            <a:pPr indent="-228600" lvl="0" marL="228600" rtl="0" algn="l">
              <a:lnSpc>
                <a:spcPct val="90000"/>
              </a:lnSpc>
              <a:spcBef>
                <a:spcPts val="1000"/>
              </a:spcBef>
              <a:spcAft>
                <a:spcPts val="0"/>
              </a:spcAft>
              <a:buClr>
                <a:schemeClr val="lt1"/>
              </a:buClr>
              <a:buSzPts val="2200"/>
              <a:buFont typeface="Arial"/>
              <a:buChar char="•"/>
            </a:pPr>
            <a:r>
              <a:rPr lang="en-US">
                <a:latin typeface="Teko"/>
                <a:ea typeface="Teko"/>
                <a:cs typeface="Teko"/>
                <a:sym typeface="Teko"/>
              </a:rPr>
              <a:t>Reduces language barriers and improves accessibility.</a:t>
            </a:r>
            <a:endParaRPr/>
          </a:p>
          <a:p>
            <a:pPr indent="-228600" lvl="0" marL="228600" rtl="0" algn="l">
              <a:lnSpc>
                <a:spcPct val="90000"/>
              </a:lnSpc>
              <a:spcBef>
                <a:spcPts val="1000"/>
              </a:spcBef>
              <a:spcAft>
                <a:spcPts val="0"/>
              </a:spcAft>
              <a:buClr>
                <a:schemeClr val="lt1"/>
              </a:buClr>
              <a:buSzPts val="2200"/>
              <a:buFont typeface="Arial"/>
              <a:buChar char="•"/>
            </a:pPr>
            <a:r>
              <a:rPr lang="en-US">
                <a:latin typeface="Teko"/>
                <a:ea typeface="Teko"/>
                <a:cs typeface="Teko"/>
                <a:sym typeface="Teko"/>
              </a:rPr>
              <a:t>Makes complex policies easier to understand. </a:t>
            </a:r>
            <a:r>
              <a:rPr b="1" lang="en-US">
                <a:latin typeface="Teko"/>
                <a:ea typeface="Teko"/>
                <a:cs typeface="Teko"/>
                <a:sym typeface="Teko"/>
              </a:rPr>
              <a:t>Improves customer trust and decision making.</a:t>
            </a:r>
            <a:endParaRPr/>
          </a:p>
          <a:p>
            <a:pPr indent="-228600" lvl="0" marL="228600" rtl="0" algn="l">
              <a:lnSpc>
                <a:spcPct val="90000"/>
              </a:lnSpc>
              <a:spcBef>
                <a:spcPts val="1000"/>
              </a:spcBef>
              <a:spcAft>
                <a:spcPts val="0"/>
              </a:spcAft>
              <a:buClr>
                <a:schemeClr val="lt1"/>
              </a:buClr>
              <a:buSzPts val="2200"/>
              <a:buFont typeface="Arial"/>
              <a:buChar char="•"/>
            </a:pPr>
            <a:r>
              <a:rPr b="1" lang="en-US">
                <a:latin typeface="Teko"/>
                <a:ea typeface="Teko"/>
                <a:cs typeface="Teko"/>
                <a:sym typeface="Teko"/>
              </a:rPr>
              <a:t>Cuts customer support costs by 30–40%</a:t>
            </a:r>
            <a:r>
              <a:rPr lang="en-US">
                <a:latin typeface="Teko"/>
                <a:ea typeface="Teko"/>
                <a:cs typeface="Teko"/>
                <a:sym typeface="Teko"/>
              </a:rPr>
              <a:t>. Offers instant responses, improving user experience.</a:t>
            </a:r>
            <a:endParaRPr>
              <a:latin typeface="Teko"/>
              <a:ea typeface="Teko"/>
              <a:cs typeface="Teko"/>
              <a:sym typeface="Tek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
          <p:cNvSpPr txBox="1"/>
          <p:nvPr>
            <p:ph type="title"/>
          </p:nvPr>
        </p:nvSpPr>
        <p:spPr>
          <a:xfrm>
            <a:off x="685800" y="764373"/>
            <a:ext cx="10820400" cy="12930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entury Gothic"/>
              <a:buNone/>
            </a:pPr>
            <a:r>
              <a:t/>
            </a:r>
            <a:endParaRPr/>
          </a:p>
        </p:txBody>
      </p:sp>
      <p:pic>
        <p:nvPicPr>
          <p:cNvPr id="169" name="Google Shape;169;p5"/>
          <p:cNvPicPr preferRelativeResize="0"/>
          <p:nvPr>
            <p:ph idx="1" type="body"/>
          </p:nvPr>
        </p:nvPicPr>
        <p:blipFill rotWithShape="1">
          <a:blip r:embed="rId3">
            <a:alphaModFix/>
          </a:blip>
          <a:srcRect b="0" l="0" r="0" t="0"/>
          <a:stretch/>
        </p:blipFill>
        <p:spPr>
          <a:xfrm>
            <a:off x="0" y="1"/>
            <a:ext cx="6096000" cy="3429000"/>
          </a:xfrm>
          <a:prstGeom prst="rect">
            <a:avLst/>
          </a:prstGeom>
          <a:noFill/>
          <a:ln>
            <a:noFill/>
          </a:ln>
        </p:spPr>
      </p:pic>
      <p:pic>
        <p:nvPicPr>
          <p:cNvPr id="170" name="Google Shape;170;p5"/>
          <p:cNvPicPr preferRelativeResize="0"/>
          <p:nvPr/>
        </p:nvPicPr>
        <p:blipFill rotWithShape="1">
          <a:blip r:embed="rId4">
            <a:alphaModFix/>
          </a:blip>
          <a:srcRect b="0" l="0" r="0" t="0"/>
          <a:stretch/>
        </p:blipFill>
        <p:spPr>
          <a:xfrm>
            <a:off x="6096000" y="0"/>
            <a:ext cx="6096000" cy="3428999"/>
          </a:xfrm>
          <a:prstGeom prst="rect">
            <a:avLst/>
          </a:prstGeom>
          <a:noFill/>
          <a:ln>
            <a:noFill/>
          </a:ln>
        </p:spPr>
      </p:pic>
      <p:pic>
        <p:nvPicPr>
          <p:cNvPr id="171" name="Google Shape;171;p5"/>
          <p:cNvPicPr preferRelativeResize="0"/>
          <p:nvPr/>
        </p:nvPicPr>
        <p:blipFill rotWithShape="1">
          <a:blip r:embed="rId5">
            <a:alphaModFix/>
          </a:blip>
          <a:srcRect b="0" l="0" r="0" t="0"/>
          <a:stretch/>
        </p:blipFill>
        <p:spPr>
          <a:xfrm>
            <a:off x="6090766" y="3428998"/>
            <a:ext cx="6101236" cy="3429002"/>
          </a:xfrm>
          <a:prstGeom prst="rect">
            <a:avLst/>
          </a:prstGeom>
          <a:noFill/>
          <a:ln>
            <a:noFill/>
          </a:ln>
        </p:spPr>
      </p:pic>
      <p:pic>
        <p:nvPicPr>
          <p:cNvPr id="172" name="Google Shape;172;p5"/>
          <p:cNvPicPr preferRelativeResize="0"/>
          <p:nvPr/>
        </p:nvPicPr>
        <p:blipFill rotWithShape="1">
          <a:blip r:embed="rId6">
            <a:alphaModFix/>
          </a:blip>
          <a:srcRect b="0" l="0" r="0" t="0"/>
          <a:stretch/>
        </p:blipFill>
        <p:spPr>
          <a:xfrm>
            <a:off x="0" y="3428998"/>
            <a:ext cx="6090764" cy="34290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6"/>
          <p:cNvSpPr txBox="1"/>
          <p:nvPr>
            <p:ph type="title"/>
          </p:nvPr>
        </p:nvSpPr>
        <p:spPr>
          <a:xfrm>
            <a:off x="685800" y="764373"/>
            <a:ext cx="10820400" cy="12930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entury Gothic"/>
              <a:buNone/>
            </a:pPr>
            <a:r>
              <a:t/>
            </a:r>
            <a:endParaRPr/>
          </a:p>
        </p:txBody>
      </p:sp>
      <p:pic>
        <p:nvPicPr>
          <p:cNvPr id="178" name="Google Shape;178;p6"/>
          <p:cNvPicPr preferRelativeResize="0"/>
          <p:nvPr>
            <p:ph idx="1" type="body"/>
          </p:nvPr>
        </p:nvPicPr>
        <p:blipFill rotWithShape="1">
          <a:blip r:embed="rId3">
            <a:alphaModFix/>
          </a:blip>
          <a:srcRect b="0" l="0" r="0" t="0"/>
          <a:stretch/>
        </p:blipFill>
        <p:spPr>
          <a:xfrm>
            <a:off x="0" y="0"/>
            <a:ext cx="5909187" cy="3429001"/>
          </a:xfrm>
          <a:prstGeom prst="rect">
            <a:avLst/>
          </a:prstGeom>
          <a:noFill/>
          <a:ln>
            <a:noFill/>
          </a:ln>
        </p:spPr>
      </p:pic>
      <p:pic>
        <p:nvPicPr>
          <p:cNvPr id="179" name="Google Shape;179;p6"/>
          <p:cNvPicPr preferRelativeResize="0"/>
          <p:nvPr/>
        </p:nvPicPr>
        <p:blipFill rotWithShape="1">
          <a:blip r:embed="rId4">
            <a:alphaModFix/>
          </a:blip>
          <a:srcRect b="0" l="0" r="0" t="0"/>
          <a:stretch/>
        </p:blipFill>
        <p:spPr>
          <a:xfrm>
            <a:off x="1" y="3428999"/>
            <a:ext cx="5909183" cy="3429001"/>
          </a:xfrm>
          <a:prstGeom prst="rect">
            <a:avLst/>
          </a:prstGeom>
          <a:noFill/>
          <a:ln>
            <a:noFill/>
          </a:ln>
        </p:spPr>
      </p:pic>
      <p:pic>
        <p:nvPicPr>
          <p:cNvPr id="180" name="Google Shape;180;p6"/>
          <p:cNvPicPr preferRelativeResize="0"/>
          <p:nvPr/>
        </p:nvPicPr>
        <p:blipFill rotWithShape="1">
          <a:blip r:embed="rId5">
            <a:alphaModFix/>
          </a:blip>
          <a:srcRect b="0" l="0" r="0" t="0"/>
          <a:stretch/>
        </p:blipFill>
        <p:spPr>
          <a:xfrm>
            <a:off x="5909184" y="3428999"/>
            <a:ext cx="6282815" cy="3429002"/>
          </a:xfrm>
          <a:prstGeom prst="rect">
            <a:avLst/>
          </a:prstGeom>
          <a:noFill/>
          <a:ln>
            <a:noFill/>
          </a:ln>
        </p:spPr>
      </p:pic>
      <p:pic>
        <p:nvPicPr>
          <p:cNvPr id="181" name="Google Shape;181;p6"/>
          <p:cNvPicPr preferRelativeResize="0"/>
          <p:nvPr/>
        </p:nvPicPr>
        <p:blipFill rotWithShape="1">
          <a:blip r:embed="rId6">
            <a:alphaModFix/>
          </a:blip>
          <a:srcRect b="0" l="0" r="0" t="0"/>
          <a:stretch/>
        </p:blipFill>
        <p:spPr>
          <a:xfrm>
            <a:off x="5909184" y="0"/>
            <a:ext cx="6282815" cy="34289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txBox="1"/>
          <p:nvPr>
            <p:ph type="title"/>
          </p:nvPr>
        </p:nvSpPr>
        <p:spPr>
          <a:xfrm>
            <a:off x="685800" y="764373"/>
            <a:ext cx="10820400" cy="12930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entury Gothic"/>
              <a:buNone/>
            </a:pPr>
            <a:r>
              <a:t/>
            </a:r>
            <a:endParaRPr/>
          </a:p>
        </p:txBody>
      </p:sp>
      <p:pic>
        <p:nvPicPr>
          <p:cNvPr id="187" name="Google Shape;187;p7"/>
          <p:cNvPicPr preferRelativeResize="0"/>
          <p:nvPr>
            <p:ph idx="1" type="body"/>
          </p:nvPr>
        </p:nvPicPr>
        <p:blipFill rotWithShape="1">
          <a:blip r:embed="rId3">
            <a:alphaModFix/>
          </a:blip>
          <a:srcRect b="0" l="0" r="0" t="0"/>
          <a:stretch/>
        </p:blipFill>
        <p:spPr>
          <a:xfrm>
            <a:off x="-1" y="3429000"/>
            <a:ext cx="6096000" cy="3429000"/>
          </a:xfrm>
          <a:prstGeom prst="rect">
            <a:avLst/>
          </a:prstGeom>
          <a:noFill/>
          <a:ln>
            <a:noFill/>
          </a:ln>
        </p:spPr>
      </p:pic>
      <p:pic>
        <p:nvPicPr>
          <p:cNvPr id="188" name="Google Shape;188;p7"/>
          <p:cNvPicPr preferRelativeResize="0"/>
          <p:nvPr/>
        </p:nvPicPr>
        <p:blipFill rotWithShape="1">
          <a:blip r:embed="rId4">
            <a:alphaModFix/>
          </a:blip>
          <a:srcRect b="0" l="0" r="0" t="0"/>
          <a:stretch/>
        </p:blipFill>
        <p:spPr>
          <a:xfrm>
            <a:off x="6096001" y="0"/>
            <a:ext cx="6096000" cy="3429000"/>
          </a:xfrm>
          <a:prstGeom prst="rect">
            <a:avLst/>
          </a:prstGeom>
          <a:noFill/>
          <a:ln>
            <a:noFill/>
          </a:ln>
        </p:spPr>
      </p:pic>
      <p:pic>
        <p:nvPicPr>
          <p:cNvPr id="189" name="Google Shape;189;p7"/>
          <p:cNvPicPr preferRelativeResize="0"/>
          <p:nvPr/>
        </p:nvPicPr>
        <p:blipFill rotWithShape="1">
          <a:blip r:embed="rId5">
            <a:alphaModFix/>
          </a:blip>
          <a:srcRect b="0" l="0" r="0" t="0"/>
          <a:stretch/>
        </p:blipFill>
        <p:spPr>
          <a:xfrm>
            <a:off x="-1" y="0"/>
            <a:ext cx="6096000" cy="3429000"/>
          </a:xfrm>
          <a:prstGeom prst="rect">
            <a:avLst/>
          </a:prstGeom>
          <a:noFill/>
          <a:ln>
            <a:noFill/>
          </a:ln>
        </p:spPr>
      </p:pic>
      <p:pic>
        <p:nvPicPr>
          <p:cNvPr id="190" name="Google Shape;190;p7"/>
          <p:cNvPicPr preferRelativeResize="0"/>
          <p:nvPr/>
        </p:nvPicPr>
        <p:blipFill rotWithShape="1">
          <a:blip r:embed="rId6">
            <a:alphaModFix/>
          </a:blip>
          <a:srcRect b="0" l="0" r="0" t="0"/>
          <a:stretch/>
        </p:blipFill>
        <p:spPr>
          <a:xfrm>
            <a:off x="6095998" y="3429000"/>
            <a:ext cx="6096001" cy="3429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8"/>
          <p:cNvSpPr txBox="1"/>
          <p:nvPr>
            <p:ph type="title"/>
          </p:nvPr>
        </p:nvSpPr>
        <p:spPr>
          <a:xfrm>
            <a:off x="685800" y="764373"/>
            <a:ext cx="10820400" cy="12930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entury Gothic"/>
              <a:buNone/>
            </a:pPr>
            <a:r>
              <a:t/>
            </a:r>
            <a:endParaRPr/>
          </a:p>
        </p:txBody>
      </p:sp>
      <p:pic>
        <p:nvPicPr>
          <p:cNvPr id="196" name="Google Shape;196;p8"/>
          <p:cNvPicPr preferRelativeResize="0"/>
          <p:nvPr>
            <p:ph idx="1" type="body"/>
          </p:nvPr>
        </p:nvPicPr>
        <p:blipFill rotWithShape="1">
          <a:blip r:embed="rId3">
            <a:alphaModFix/>
          </a:blip>
          <a:srcRect b="0" l="0" r="0" t="0"/>
          <a:stretch/>
        </p:blipFill>
        <p:spPr>
          <a:xfrm>
            <a:off x="0" y="1"/>
            <a:ext cx="12192000" cy="3428999"/>
          </a:xfrm>
          <a:prstGeom prst="rect">
            <a:avLst/>
          </a:prstGeom>
          <a:noFill/>
          <a:ln>
            <a:noFill/>
          </a:ln>
        </p:spPr>
      </p:pic>
      <p:pic>
        <p:nvPicPr>
          <p:cNvPr id="197" name="Google Shape;197;p8"/>
          <p:cNvPicPr preferRelativeResize="0"/>
          <p:nvPr/>
        </p:nvPicPr>
        <p:blipFill rotWithShape="1">
          <a:blip r:embed="rId4">
            <a:alphaModFix/>
          </a:blip>
          <a:srcRect b="0" l="0" r="0" t="0"/>
          <a:stretch/>
        </p:blipFill>
        <p:spPr>
          <a:xfrm>
            <a:off x="0" y="3429000"/>
            <a:ext cx="12192000" cy="3429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9"/>
          <p:cNvSpPr txBox="1"/>
          <p:nvPr>
            <p:ph type="title"/>
          </p:nvPr>
        </p:nvSpPr>
        <p:spPr>
          <a:xfrm>
            <a:off x="843116" y="1314979"/>
            <a:ext cx="1546123" cy="49415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Font typeface="Century Gothic"/>
              <a:buNone/>
            </a:pPr>
            <a:r>
              <a:rPr b="1" lang="en-US" sz="2400"/>
              <a:t>INSIGHTS</a:t>
            </a:r>
            <a:endParaRPr/>
          </a:p>
        </p:txBody>
      </p:sp>
      <p:sp>
        <p:nvSpPr>
          <p:cNvPr id="203" name="Google Shape;203;p9"/>
          <p:cNvSpPr txBox="1"/>
          <p:nvPr>
            <p:ph idx="1" type="body"/>
          </p:nvPr>
        </p:nvSpPr>
        <p:spPr>
          <a:xfrm>
            <a:off x="1449029" y="2007747"/>
            <a:ext cx="8996517"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n-US">
                <a:latin typeface="Teko"/>
                <a:ea typeface="Teko"/>
                <a:cs typeface="Teko"/>
                <a:sym typeface="Teko"/>
              </a:rPr>
              <a:t>If risk score is High, the number of fraudulent claims is also high.</a:t>
            </a:r>
            <a:endParaRPr/>
          </a:p>
          <a:p>
            <a:pPr indent="-228600" lvl="0" marL="228600" rtl="0" algn="l">
              <a:lnSpc>
                <a:spcPct val="90000"/>
              </a:lnSpc>
              <a:spcBef>
                <a:spcPts val="1000"/>
              </a:spcBef>
              <a:spcAft>
                <a:spcPts val="0"/>
              </a:spcAft>
              <a:buClr>
                <a:schemeClr val="lt1"/>
              </a:buClr>
              <a:buSzPts val="2200"/>
              <a:buChar char="•"/>
            </a:pPr>
            <a:r>
              <a:rPr lang="en-US">
                <a:latin typeface="Teko"/>
                <a:ea typeface="Teko"/>
                <a:cs typeface="Teko"/>
                <a:sym typeface="Teko"/>
              </a:rPr>
              <a:t>most claims are made by people with a High risk score, especially in Health and Auto insurance.</a:t>
            </a:r>
            <a:endParaRPr/>
          </a:p>
          <a:p>
            <a:pPr indent="-228600" lvl="0" marL="228600" rtl="0" algn="l">
              <a:lnSpc>
                <a:spcPct val="90000"/>
              </a:lnSpc>
              <a:spcBef>
                <a:spcPts val="1000"/>
              </a:spcBef>
              <a:spcAft>
                <a:spcPts val="0"/>
              </a:spcAft>
              <a:buClr>
                <a:schemeClr val="lt1"/>
              </a:buClr>
              <a:buSzPts val="2200"/>
              <a:buChar char="•"/>
            </a:pPr>
            <a:r>
              <a:rPr lang="en-US">
                <a:latin typeface="Teko"/>
                <a:ea typeface="Teko"/>
                <a:cs typeface="Teko"/>
                <a:sym typeface="Teko"/>
              </a:rPr>
              <a:t>Large claims are most common in the High risk, which also had more fraudulent claim activity.</a:t>
            </a:r>
            <a:endParaRPr/>
          </a:p>
          <a:p>
            <a:pPr indent="-228600" lvl="0" marL="228600" rtl="0" algn="l">
              <a:lnSpc>
                <a:spcPct val="90000"/>
              </a:lnSpc>
              <a:spcBef>
                <a:spcPts val="1000"/>
              </a:spcBef>
              <a:spcAft>
                <a:spcPts val="0"/>
              </a:spcAft>
              <a:buClr>
                <a:schemeClr val="lt1"/>
              </a:buClr>
              <a:buSzPts val="2200"/>
              <a:buChar char="•"/>
            </a:pPr>
            <a:r>
              <a:rPr lang="en-US">
                <a:latin typeface="Teko"/>
                <a:ea typeface="Teko"/>
                <a:cs typeface="Teko"/>
                <a:sym typeface="Teko"/>
              </a:rPr>
              <a:t>People with High risk scores pay higher premiums, because they are more likely to claim large amount or fraudulent claims.</a:t>
            </a:r>
            <a:endParaRPr/>
          </a:p>
          <a:p>
            <a:pPr indent="-228600" lvl="0" marL="228600" rtl="0" algn="l">
              <a:lnSpc>
                <a:spcPct val="90000"/>
              </a:lnSpc>
              <a:spcBef>
                <a:spcPts val="1000"/>
              </a:spcBef>
              <a:spcAft>
                <a:spcPts val="0"/>
              </a:spcAft>
              <a:buClr>
                <a:schemeClr val="lt1"/>
              </a:buClr>
              <a:buSzPts val="2200"/>
              <a:buChar char="•"/>
            </a:pPr>
            <a:r>
              <a:rPr lang="en-US">
                <a:latin typeface="Teko"/>
                <a:ea typeface="Teko"/>
                <a:cs typeface="Teko"/>
                <a:sym typeface="Teko"/>
              </a:rPr>
              <a:t>Health, Life insurance policies show the highest claim premium ratio compared to other policy types.</a:t>
            </a:r>
            <a:endParaRPr/>
          </a:p>
          <a:p>
            <a:pPr indent="-228600" lvl="0" marL="228600" rtl="0" algn="l">
              <a:lnSpc>
                <a:spcPct val="90000"/>
              </a:lnSpc>
              <a:spcBef>
                <a:spcPts val="1000"/>
              </a:spcBef>
              <a:spcAft>
                <a:spcPts val="0"/>
              </a:spcAft>
              <a:buClr>
                <a:schemeClr val="lt1"/>
              </a:buClr>
              <a:buSzPts val="2200"/>
              <a:buChar char="•"/>
            </a:pPr>
            <a:r>
              <a:rPr lang="en-US">
                <a:latin typeface="Teko"/>
                <a:ea typeface="Teko"/>
                <a:cs typeface="Teko"/>
                <a:sym typeface="Teko"/>
              </a:rPr>
              <a:t>older properties might be more prone risk, resulting in higher claim values.</a:t>
            </a:r>
            <a:endParaRPr/>
          </a:p>
          <a:p>
            <a:pPr indent="-228600" lvl="0" marL="228600" rtl="0" algn="l">
              <a:lnSpc>
                <a:spcPct val="90000"/>
              </a:lnSpc>
              <a:spcBef>
                <a:spcPts val="1000"/>
              </a:spcBef>
              <a:spcAft>
                <a:spcPts val="0"/>
              </a:spcAft>
              <a:buClr>
                <a:schemeClr val="lt1"/>
              </a:buClr>
              <a:buSzPts val="2200"/>
              <a:buChar char="•"/>
            </a:pPr>
            <a:r>
              <a:rPr lang="en-US">
                <a:latin typeface="Teko"/>
                <a:ea typeface="Teko"/>
                <a:cs typeface="Teko"/>
                <a:sym typeface="Teko"/>
              </a:rPr>
              <a:t>People who pay a high premium amount sometimes claim a large amount, which can indicate the higher chance of fraud claim.</a:t>
            </a:r>
            <a:endParaRPr>
              <a:latin typeface="Teko"/>
              <a:ea typeface="Teko"/>
              <a:cs typeface="Teko"/>
              <a:sym typeface="Tek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0"/>
          <p:cNvSpPr txBox="1"/>
          <p:nvPr>
            <p:ph type="title"/>
          </p:nvPr>
        </p:nvSpPr>
        <p:spPr>
          <a:xfrm>
            <a:off x="646472" y="1255986"/>
            <a:ext cx="4318819" cy="46465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Font typeface="Century Gothic"/>
              <a:buNone/>
            </a:pPr>
            <a:r>
              <a:rPr b="1" lang="en-US" sz="2400"/>
              <a:t>CUSTOMER SEGMENTATION</a:t>
            </a:r>
            <a:endParaRPr/>
          </a:p>
        </p:txBody>
      </p:sp>
      <p:sp>
        <p:nvSpPr>
          <p:cNvPr id="209" name="Google Shape;209;p10"/>
          <p:cNvSpPr txBox="1"/>
          <p:nvPr>
            <p:ph idx="1" type="body"/>
          </p:nvPr>
        </p:nvSpPr>
        <p:spPr>
          <a:xfrm>
            <a:off x="1433051" y="1817315"/>
            <a:ext cx="9746226" cy="262324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n-US">
                <a:latin typeface="Teko"/>
                <a:ea typeface="Teko"/>
                <a:cs typeface="Teko"/>
                <a:sym typeface="Teko"/>
              </a:rPr>
              <a:t>For both genders, Group policies have the highest count, while Individual policies have the lowest.</a:t>
            </a:r>
            <a:endParaRPr/>
          </a:p>
          <a:p>
            <a:pPr indent="-228600" lvl="0" marL="228600" rtl="0" algn="l">
              <a:lnSpc>
                <a:spcPct val="90000"/>
              </a:lnSpc>
              <a:spcBef>
                <a:spcPts val="1000"/>
              </a:spcBef>
              <a:spcAft>
                <a:spcPts val="0"/>
              </a:spcAft>
              <a:buClr>
                <a:schemeClr val="lt1"/>
              </a:buClr>
              <a:buSzPts val="2200"/>
              <a:buChar char="•"/>
            </a:pPr>
            <a:r>
              <a:rPr lang="en-US">
                <a:latin typeface="Teko"/>
                <a:ea typeface="Teko"/>
                <a:cs typeface="Teko"/>
                <a:sym typeface="Teko"/>
              </a:rPr>
              <a:t>Group &amp; Business policies have the highest coverage amount on average, while Family policies have the lowest.</a:t>
            </a:r>
            <a:endParaRPr/>
          </a:p>
          <a:p>
            <a:pPr indent="-228600" lvl="0" marL="228600" rtl="0" algn="l">
              <a:lnSpc>
                <a:spcPct val="90000"/>
              </a:lnSpc>
              <a:spcBef>
                <a:spcPts val="1000"/>
              </a:spcBef>
              <a:spcAft>
                <a:spcPts val="0"/>
              </a:spcAft>
              <a:buClr>
                <a:schemeClr val="lt1"/>
              </a:buClr>
              <a:buSzPts val="2200"/>
              <a:buChar char="•"/>
            </a:pPr>
            <a:r>
              <a:rPr lang="en-US">
                <a:latin typeface="Teko"/>
                <a:ea typeface="Teko"/>
                <a:cs typeface="Teko"/>
                <a:sym typeface="Teko"/>
              </a:rPr>
              <a:t>Business policies have the highest average number of policy upgrades, Family policies have the lowest policy upgrades.</a:t>
            </a:r>
            <a:endParaRPr/>
          </a:p>
          <a:p>
            <a:pPr indent="-228600" lvl="0" marL="228600" rtl="0" algn="l">
              <a:lnSpc>
                <a:spcPct val="90000"/>
              </a:lnSpc>
              <a:spcBef>
                <a:spcPts val="1000"/>
              </a:spcBef>
              <a:spcAft>
                <a:spcPts val="0"/>
              </a:spcAft>
              <a:buClr>
                <a:schemeClr val="lt1"/>
              </a:buClr>
              <a:buSzPts val="2200"/>
              <a:buChar char="•"/>
            </a:pPr>
            <a:r>
              <a:rPr lang="en-US">
                <a:latin typeface="Teko"/>
                <a:ea typeface="Teko"/>
                <a:cs typeface="Teko"/>
                <a:sym typeface="Teko"/>
              </a:rPr>
              <a:t>Salespersons purchase one or two policies. doctor, artist, engineer, lawyer are purchase same pattern so recommend policies same as well. nurse can focus to buy all type of policies.</a:t>
            </a:r>
            <a:endParaRPr>
              <a:latin typeface="Teko"/>
              <a:ea typeface="Teko"/>
              <a:cs typeface="Teko"/>
              <a:sym typeface="Teko"/>
            </a:endParaRPr>
          </a:p>
        </p:txBody>
      </p:sp>
      <p:sp>
        <p:nvSpPr>
          <p:cNvPr id="210" name="Google Shape;210;p10"/>
          <p:cNvSpPr txBox="1"/>
          <p:nvPr/>
        </p:nvSpPr>
        <p:spPr>
          <a:xfrm>
            <a:off x="646472" y="4492495"/>
            <a:ext cx="261783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lt1"/>
                </a:solidFill>
                <a:latin typeface="Century Gothic"/>
                <a:ea typeface="Century Gothic"/>
                <a:cs typeface="Century Gothic"/>
                <a:sym typeface="Century Gothic"/>
              </a:rPr>
              <a:t>FRUD DETECTION</a:t>
            </a:r>
            <a:endParaRPr sz="2400">
              <a:solidFill>
                <a:schemeClr val="lt1"/>
              </a:solidFill>
              <a:latin typeface="Century Gothic"/>
              <a:ea typeface="Century Gothic"/>
              <a:cs typeface="Century Gothic"/>
              <a:sym typeface="Century Gothic"/>
            </a:endParaRPr>
          </a:p>
        </p:txBody>
      </p:sp>
      <p:sp>
        <p:nvSpPr>
          <p:cNvPr id="211" name="Google Shape;211;p10"/>
          <p:cNvSpPr txBox="1"/>
          <p:nvPr/>
        </p:nvSpPr>
        <p:spPr>
          <a:xfrm>
            <a:off x="1433051" y="5006093"/>
            <a:ext cx="9746226" cy="144655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2200"/>
              <a:buFont typeface="Arial"/>
              <a:buChar char="•"/>
            </a:pPr>
            <a:r>
              <a:rPr lang="en-US" sz="2200">
                <a:solidFill>
                  <a:schemeClr val="lt1"/>
                </a:solidFill>
                <a:latin typeface="Teko"/>
                <a:ea typeface="Teko"/>
                <a:cs typeface="Teko"/>
                <a:sym typeface="Teko"/>
              </a:rPr>
              <a:t>Home damage claims often involve more extensive repairs or rebuilding, leading to higher overall costs compared to vehicle &amp; medical claims.</a:t>
            </a:r>
            <a:endParaRPr/>
          </a:p>
          <a:p>
            <a:pPr indent="-285750" lvl="0" marL="285750" marR="0" rtl="0" algn="l">
              <a:spcBef>
                <a:spcPts val="0"/>
              </a:spcBef>
              <a:spcAft>
                <a:spcPts val="0"/>
              </a:spcAft>
              <a:buClr>
                <a:schemeClr val="lt1"/>
              </a:buClr>
              <a:buSzPts val="2200"/>
              <a:buFont typeface="Arial"/>
              <a:buChar char="•"/>
            </a:pPr>
            <a:r>
              <a:rPr lang="en-US" sz="2200">
                <a:solidFill>
                  <a:schemeClr val="lt1"/>
                </a:solidFill>
                <a:latin typeface="Teko"/>
                <a:ea typeface="Teko"/>
                <a:cs typeface="Teko"/>
                <a:sym typeface="Teko"/>
              </a:rPr>
              <a:t>If someone makes a home insurance claim and also has a suspicious flag, there is a high chance that the claim could be fraudulent.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2025-04-24T10:13:09Z</dcterms:created>
  <dc:creator>Kesavan M</dc:creator>
</cp:coreProperties>
</file>